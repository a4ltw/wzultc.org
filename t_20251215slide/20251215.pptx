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Kanit Light"/>
      <p:regular r:id="rId17"/>
    </p:embeddedFont>
    <p:embeddedFont>
      <p:font typeface="Kanit Light"/>
      <p:regular r:id="rId18"/>
    </p:embeddedFont>
    <p:embeddedFont>
      <p:font typeface="Kanit Light"/>
      <p:regular r:id="rId19"/>
    </p:embeddedFont>
    <p:embeddedFont>
      <p:font typeface="Kanit Light"/>
      <p:regular r:id="rId20"/>
    </p:embeddedFont>
    <p:embeddedFont>
      <p:font typeface="Martel Sans"/>
      <p:regular r:id="rId21"/>
    </p:embeddedFont>
    <p:embeddedFont>
      <p:font typeface="Martel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hyperlink" Target="http://wzultc.org/course/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3999" y="1541621"/>
            <a:ext cx="1714500" cy="1714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1541621"/>
            <a:ext cx="2736652" cy="27366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479846" y="48735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D501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跨語照護計畫進展報告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4594027" y="5673090"/>
            <a:ext cx="544222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4C43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打造外籍人士友善醫療通道</a:t>
            </a:r>
            <a:endParaRPr lang="en-US" sz="3550" dirty="0"/>
          </a:p>
        </p:txBody>
      </p:sp>
      <p:sp>
        <p:nvSpPr>
          <p:cNvPr id="6" name="Text 2"/>
          <p:cNvSpPr/>
          <p:nvPr/>
        </p:nvSpPr>
        <p:spPr>
          <a:xfrm>
            <a:off x="793790" y="65802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4C43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2025年12月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8744" y="2309098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D501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華語教材與線上教學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614035" y="290869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4C43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從課程設計到線上教學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3589139"/>
            <a:ext cx="6436400" cy="1867733"/>
          </a:xfrm>
          <a:prstGeom prst="roundRect">
            <a:avLst>
              <a:gd name="adj" fmla="val 3826"/>
            </a:avLst>
          </a:prstGeom>
          <a:solidFill>
            <a:srgbClr val="FFFFFF"/>
          </a:solidFill>
          <a:ln w="22860">
            <a:solidFill>
              <a:srgbClr val="F4C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650" y="3611999"/>
            <a:ext cx="6390680" cy="510302"/>
          </a:xfrm>
          <a:prstGeom prst="roundRect">
            <a:avLst>
              <a:gd name="adj" fmla="val 8626"/>
            </a:avLst>
          </a:prstGeom>
          <a:solidFill>
            <a:srgbClr val="F4C4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4414" y="3735705"/>
            <a:ext cx="255151" cy="2551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6671" y="429232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D501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教材開發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86671" y="4660106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「台越照護華語課程」第 0-3 課完成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86671" y="4991814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錄製音檔支援自主練習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00211" y="3589139"/>
            <a:ext cx="6436400" cy="1867733"/>
          </a:xfrm>
          <a:prstGeom prst="roundRect">
            <a:avLst>
              <a:gd name="adj" fmla="val 3826"/>
            </a:avLst>
          </a:prstGeom>
          <a:solidFill>
            <a:srgbClr val="FFFFFF"/>
          </a:solidFill>
          <a:ln w="22860">
            <a:solidFill>
              <a:srgbClr val="F4C43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23071" y="3611999"/>
            <a:ext cx="6390680" cy="510302"/>
          </a:xfrm>
          <a:prstGeom prst="roundRect">
            <a:avLst>
              <a:gd name="adj" fmla="val 8626"/>
            </a:avLst>
          </a:prstGeom>
          <a:solidFill>
            <a:srgbClr val="F4C43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0835" y="3735705"/>
            <a:ext cx="255151" cy="2551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93092" y="429232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D501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線上教學實施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593092" y="4660106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12月開始執行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593092" y="4991814"/>
            <a:ext cx="605063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採分班制，2週完成2輪循環教學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93790" y="5648206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教材線上網站：</a:t>
            </a:r>
            <a:pPr algn="l" indent="0" marL="0">
              <a:lnSpc>
                <a:spcPts val="2100"/>
              </a:lnSpc>
              <a:buNone/>
            </a:pPr>
            <a:r>
              <a:rPr lang="en-US" sz="1300" u="sng" dirty="0">
                <a:solidFill>
                  <a:srgbClr val="2D501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http://wzultc.org/course/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58497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教材迭代升級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2977991"/>
            <a:ext cx="4491038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從傳統教材到互動式學習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790" y="399847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原有教材形式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3790" y="4521398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Slide 與 PDF 呈現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3790" y="4919543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單向知識傳遞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71780" y="3998476"/>
            <a:ext cx="404074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新開發互動版本（AI + 電子書應用）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71780" y="4521398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漫畫 + 學習單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71780" y="4919543"/>
            <a:ext cx="6272451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電子書 + 檢測</a:t>
            </a:r>
            <a:endParaRPr lang="en-US" sz="16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- True/False 判斷</a:t>
            </a:r>
            <a:endParaRPr lang="en-US" sz="16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- 連連看配對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46390"/>
            <a:ext cx="63473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現有服務：LINE 官方帳號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4589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WZULTC 跨語照護帳號</a:t>
            </a:r>
            <a:endParaRPr lang="en-US" sz="3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4253032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43876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服務對象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44253" y="4878110"/>
            <a:ext cx="3308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外籍照服員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4253032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86356" y="43876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規模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086356" y="4878110"/>
            <a:ext cx="3308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覆蓋所有外籍照服員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6086356" y="5320308"/>
            <a:ext cx="3308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多位學伴擔任小編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4253032"/>
            <a:ext cx="566976" cy="5669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28459" y="43876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主要功能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528459" y="4878110"/>
            <a:ext cx="3308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上課時間公告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10528459" y="5320308"/>
            <a:ext cx="3308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實時溝通與問答支援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2232" y="1886545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2D501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討論友善醫療通道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40849" y="2406253"/>
            <a:ext cx="2948702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D501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現況困境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93790" y="2995970"/>
            <a:ext cx="13042821" cy="1725930"/>
          </a:xfrm>
          <a:prstGeom prst="roundRect">
            <a:avLst>
              <a:gd name="adj" fmla="val 358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003590"/>
            <a:ext cx="13027581" cy="4276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48809" y="3099554"/>
            <a:ext cx="621518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翻譯精準度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66409" y="3099554"/>
            <a:ext cx="621518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Google 翻譯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4C43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不穩定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（口音、醫學專有名詞）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1410" y="3431262"/>
            <a:ext cx="13027581" cy="4276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48809" y="3527227"/>
            <a:ext cx="621518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現場工具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66409" y="3527227"/>
            <a:ext cx="621518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社工平板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4C43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有限、未優化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1410" y="3858935"/>
            <a:ext cx="13027581" cy="4276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48809" y="3954899"/>
            <a:ext cx="621518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入口指引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66409" y="3954899"/>
            <a:ext cx="621518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接待處指引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4C43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不足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1410" y="4286607"/>
            <a:ext cx="13027581" cy="4276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48809" y="4382572"/>
            <a:ext cx="621518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人力成本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66409" y="4382572"/>
            <a:ext cx="621518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人工翻譯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4C43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無法 24/7 覆蓋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40849" y="4942999"/>
            <a:ext cx="2948702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D501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目標使用情境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93790" y="5532715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F4C43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外籍病患單獨就醫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3790" y="5820013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F4C43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移工陪伴雇主就醫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93790" y="6107311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F4C43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多語家庭混合情境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478"/>
            <a:ext cx="777180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友善醫療通道：AI 三層部署（建置中）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231356"/>
            <a:ext cx="4226600" cy="2696766"/>
          </a:xfrm>
          <a:prstGeom prst="roundRect">
            <a:avLst>
              <a:gd name="adj" fmla="val 2826"/>
            </a:avLst>
          </a:prstGeom>
          <a:solidFill>
            <a:srgbClr val="FFFFFF"/>
          </a:solidFill>
          <a:ln w="22860">
            <a:solidFill>
              <a:srgbClr val="2D50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650" y="3254216"/>
            <a:ext cx="4180880" cy="544354"/>
          </a:xfrm>
          <a:prstGeom prst="roundRect">
            <a:avLst>
              <a:gd name="adj" fmla="val 8961"/>
            </a:avLst>
          </a:prstGeom>
          <a:solidFill>
            <a:srgbClr val="2D501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70942" y="3386376"/>
            <a:ext cx="272177" cy="2721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72960" y="398002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LINE 官方帳號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98101" y="4372332"/>
            <a:ext cx="38179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越南文提問 → 自動雙語回應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8101" y="4726067"/>
            <a:ext cx="38179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醫療翻譯員角色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98101" y="5079802"/>
            <a:ext cx="38179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自訂醫療詞彙庫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98101" y="5433536"/>
            <a:ext cx="38179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就醫 QA 知識庫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201841" y="3231356"/>
            <a:ext cx="4226600" cy="2696766"/>
          </a:xfrm>
          <a:prstGeom prst="roundRect">
            <a:avLst>
              <a:gd name="adj" fmla="val 2826"/>
            </a:avLst>
          </a:prstGeom>
          <a:solidFill>
            <a:srgbClr val="FFFFFF"/>
          </a:solidFill>
          <a:ln w="22860">
            <a:solidFill>
              <a:srgbClr val="2D501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24701" y="3254216"/>
            <a:ext cx="4180880" cy="544354"/>
          </a:xfrm>
          <a:prstGeom prst="roundRect">
            <a:avLst>
              <a:gd name="adj" fmla="val 8961"/>
            </a:avLst>
          </a:prstGeom>
          <a:solidFill>
            <a:srgbClr val="2D501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8993" y="3386376"/>
            <a:ext cx="272177" cy="2721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81011" y="398002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網頁機器人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5406152" y="4372332"/>
            <a:ext cx="38179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開放式、支援任何語言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406152" y="4726067"/>
            <a:ext cx="38179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掃 QR Code 即用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406152" y="5079802"/>
            <a:ext cx="38179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無需登入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406152" y="5433536"/>
            <a:ext cx="38179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匿名提問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9609892" y="3231356"/>
            <a:ext cx="4226719" cy="2696766"/>
          </a:xfrm>
          <a:prstGeom prst="roundRect">
            <a:avLst>
              <a:gd name="adj" fmla="val 2826"/>
            </a:avLst>
          </a:prstGeom>
          <a:solidFill>
            <a:srgbClr val="FFFFFF"/>
          </a:solidFill>
          <a:ln w="22860">
            <a:solidFill>
              <a:srgbClr val="2D501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632752" y="3254216"/>
            <a:ext cx="4180999" cy="544354"/>
          </a:xfrm>
          <a:prstGeom prst="roundRect">
            <a:avLst>
              <a:gd name="adj" fmla="val 8961"/>
            </a:avLst>
          </a:prstGeom>
          <a:solidFill>
            <a:srgbClr val="2D501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87163" y="3386376"/>
            <a:ext cx="272177" cy="27217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589062" y="398002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ChatGPT 整合</a:t>
            </a:r>
            <a:endParaRPr lang="en-US" sz="1750" dirty="0"/>
          </a:p>
        </p:txBody>
      </p:sp>
      <p:sp>
        <p:nvSpPr>
          <p:cNvPr id="23" name="Text 18"/>
          <p:cNvSpPr/>
          <p:nvPr/>
        </p:nvSpPr>
        <p:spPr>
          <a:xfrm>
            <a:off x="9814203" y="4372332"/>
            <a:ext cx="38180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免費帳號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9814203" y="4726067"/>
            <a:ext cx="38180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教學模式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9814203" y="5079802"/>
            <a:ext cx="38180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諮詢模式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9814203" y="5433536"/>
            <a:ext cx="38180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雙語對話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4098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全流程支援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92078"/>
            <a:ext cx="4347567" cy="77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6552" y="425600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預約前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86552" y="4672846"/>
            <a:ext cx="396204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網站宣傳 QR Code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86552" y="5048607"/>
            <a:ext cx="396204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解答常見焦慮（就醫流程、費用等）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3292078"/>
            <a:ext cx="4347567" cy="77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4119" y="425600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現場支援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334119" y="4672846"/>
            <a:ext cx="396204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掛號櫃檯平板掃碼進入 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4C43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LINE 系統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334119" y="5048607"/>
            <a:ext cx="3962043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推車架 Notebook（醫生 + 病患共看雙語畫面）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292078"/>
            <a:ext cx="4347567" cy="77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81686" y="425600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知識庫建置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9681686" y="4672846"/>
            <a:ext cx="396204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掛號、就診路徑、文化禁忌常見 QA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9681686" y="5048607"/>
            <a:ext cx="396204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測試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4C43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防止 AI 幻覺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9681686" y="5424368"/>
            <a:ext cx="396204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保留人工回饋管道（電話、信件）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76475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為何選擇 AI 方案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93790" y="3322677"/>
            <a:ext cx="4211479" cy="2630448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22860">
            <a:solidFill>
              <a:srgbClr val="F4C4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650" y="3345537"/>
            <a:ext cx="4165759" cy="612338"/>
          </a:xfrm>
          <a:prstGeom prst="roundRect">
            <a:avLst>
              <a:gd name="adj" fmla="val 9522"/>
            </a:avLst>
          </a:prstGeom>
          <a:solidFill>
            <a:srgbClr val="F4C43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6415" y="349472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723" y="416194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功能優勢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20723" y="4603194"/>
            <a:ext cx="375761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用戶追蹤 + 對話紀錄完整保存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20723" y="5001339"/>
            <a:ext cx="375761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角色扮演能力強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20723" y="5399484"/>
            <a:ext cx="375761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原生多語言自訂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09342" y="3322677"/>
            <a:ext cx="4211598" cy="2630448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22860">
            <a:solidFill>
              <a:srgbClr val="F4C43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32202" y="3345537"/>
            <a:ext cx="4165878" cy="612338"/>
          </a:xfrm>
          <a:prstGeom prst="roundRect">
            <a:avLst>
              <a:gd name="adj" fmla="val 9522"/>
            </a:avLst>
          </a:prstGeom>
          <a:solidFill>
            <a:srgbClr val="F4C43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2086" y="3494723"/>
            <a:ext cx="306110" cy="3061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36275" y="416194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成本效益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436275" y="4603194"/>
            <a:ext cx="375773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減少人工排班成本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436275" y="5001339"/>
            <a:ext cx="375773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24/7 自動化回應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436275" y="5399484"/>
            <a:ext cx="375773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高投資報酬率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9625013" y="3322677"/>
            <a:ext cx="4211598" cy="2630448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22860">
            <a:solidFill>
              <a:srgbClr val="F4C43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647873" y="3345537"/>
            <a:ext cx="4165878" cy="612338"/>
          </a:xfrm>
          <a:prstGeom prst="roundRect">
            <a:avLst>
              <a:gd name="adj" fmla="val 9522"/>
            </a:avLst>
          </a:prstGeom>
          <a:solidFill>
            <a:srgbClr val="F4C43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77757" y="3494723"/>
            <a:ext cx="306110" cy="3061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51946" y="416194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應用廣度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9851946" y="4603194"/>
            <a:ext cx="3757732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優於 Google 翻譯準確度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851946" y="5001339"/>
            <a:ext cx="3757732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與 GPS 導航 APP 整合（AIPP 包容行動服務）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83143"/>
            <a:ext cx="5102066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D501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下一步聚焦（康部長建議）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323992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D501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服務邊界明確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3790" y="3675698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重點：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93790" y="4100870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流程指引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3790" y="4432578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非醫療專業問題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3790" y="4857750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避免：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3790" y="5282922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醫學診斷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3790" y="5614630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醫療判斷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30346" y="323992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D501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整合生態系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30346" y="3675698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GPS 導航應用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30346" y="4007406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醫院地圖資訊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30346" y="4339114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包容行動服務（AIPP）無縫接軌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2190393"/>
            <a:ext cx="5670590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💬</a:t>
            </a:r>
            <a:pPr algn="ct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待討論議題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5046940" y="299751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🇻🇳</a:t>
            </a:r>
            <a:pPr algn="ctr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越南行程討論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5897523" y="36552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4C43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可能議題方向: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3497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實地考察越南醫療照護現場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919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越南照護華語課程本地化需求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341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越南合作機構與推廣策略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6763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……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2025-12-15T00:58:40Z</dcterms:created>
  <dcterms:modified xsi:type="dcterms:W3CDTF">2025-12-15T00:58:40Z</dcterms:modified>
</cp:coreProperties>
</file>